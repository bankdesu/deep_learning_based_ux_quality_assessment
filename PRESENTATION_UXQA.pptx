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Deep Learning-Based UX Quality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9B5E0"/>
                </a:solidFill>
                <a:latin typeface="Calibri"/>
              </a:rPr>
              <a:t>from Mobile Screenshots Using Visual and Structural Cues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CF0F1"/>
                </a:solidFill>
                <a:latin typeface="Calibri"/>
              </a:rPr>
              <a:t>IEEE Access Manuscript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F0F1"/>
                </a:solidFill>
                <a:latin typeface="Calibri"/>
              </a:rPr>
              <a:t>King Mongkut's University of Technology Thonburi (KMUTT)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9B5E0"/>
                </a:solidFill>
                <a:latin typeface="Calibri"/>
              </a:rPr>
              <a:t>Dataset: UICrit (983 mobile UIs)  |  Metric: Kendall's tau  |  Best: tau = 0.215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Why automate UX quality assessment?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•  UX quality assessment is expensive and 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Requires 7+ expert designers per UI (UICrit protocol)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39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Time-consuming, difficult to scale to millions of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79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•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•  Manual heuristics are too rigid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Rule-based checks miss holistic design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Cannot capture semantic visual aesthetics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39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•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  <a:latin typeface="Calibri"/>
              </a:rPr>
              <a:t>  •  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No systematic study on visual vs structural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5486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6677"/>
                </a:solidFill>
                <a:latin typeface="Calibri"/>
              </a:rPr>
              <a:t>     –  CLIP pretraining effect on UX quality unknown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ECF0F1"/>
          </a:solidFill>
          <a:ln w="19050">
            <a:solidFill>
              <a:srgbClr val="39B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7A"/>
                </a:solidFill>
                <a:latin typeface="Calibri"/>
              </a:rPr>
              <a:t>Research Questions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920240"/>
            <a:ext cx="4846320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938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 ImageNet visual features predict UX quality significantly?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291840"/>
            <a:ext cx="484632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3101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11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Does CLIP pretraining on RICO improve performance?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63440"/>
            <a:ext cx="484632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681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83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 structural pixel features help via multi-modal fusion?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Dataset: UICrit + 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983 expert-annotated mobile UIs + 66,261 unlabeled RICO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7A"/>
                </a:solidFill>
                <a:latin typeface="Calibri"/>
              </a:rPr>
              <a:t>UICrit (Duan et al., UIST 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983 mobile UI screenshots from RICO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19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7 experienced UX designers per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0370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Ratings: aesthetics, usability, overall (1-7 scale)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054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Split: 686 train / 98 val / 100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0720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Score distribution: approx. normal, mean ~0.45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29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RICO (Deka et al., UIST 2017)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947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72,219 unique Android UI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09651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9,772 applications across 27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982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Used for CLIP pseudo-label pretraining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000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2C3E50"/>
                </a:solidFill>
                <a:latin typeface="Calibri"/>
              </a:rPr>
              <a:t>  •  No quality annotations — labels generated by CLIP</a:t>
            </a:r>
          </a:p>
        </p:txBody>
      </p:sp>
      <p:pic>
        <p:nvPicPr>
          <p:cNvPr id="19" name="Picture 18" descr="fig2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Three complementary approaches investigated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7A"/>
                </a:solidFill>
                <a:latin typeface="Calibri"/>
              </a:rPr>
              <a:t>Approach 1 — Visual Backbone (ImageNet pretrained)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EfficientNet-B4: 1792-dim GAP embedding → MLP head → sigmoid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Two regimes: linear probe (frozen) vs fine-tuning (last 3 stages)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Also tested: EfficientNet-B0, ResNet-50, Swin-T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Approach 2 — CLIP Pseudo-Label Pretraining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CLIP (ViT-B/32): compute similarity with 6 positive + 4 negative quality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546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Generate pseudo-labels for 66,261 RICO screenshots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Pretrain EfficientNet-B4 on RICO, then fine-tune on UICrit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Approach 3 — Multi-Modal Gated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19 pixel-derived structural features: contrast, symmetry, 3x3 grid density, color stats, lum 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Structural encoder (MLP + LayerNorm) -&gt; 64-dim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09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Gating: g = sigmoid(Linear([fv; fs])) -&gt; fused = g*proj_v + (1-g)*proj_s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9834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  •  Ablation: visual-only / struct-only / full fusion</a:t>
            </a:r>
          </a:p>
        </p:txBody>
      </p:sp>
      <p:pic>
        <p:nvPicPr>
          <p:cNvPr id="21" name="Picture 20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52144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Kendall tau with 95% bootstrap CI on UICrit test set (n=100)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402336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1" y="1280160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164592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280160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128016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1280160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95% CI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234440"/>
            <a:ext cx="109728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1280160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34440"/>
            <a:ext cx="109728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280160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234440"/>
            <a:ext cx="91440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2952" y="1280160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81360" y="1234440"/>
            <a:ext cx="1005840" cy="356616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1280160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591056"/>
            <a:ext cx="402336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1" y="1636776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  <a:latin typeface="Calibri"/>
              </a:rPr>
              <a:t>EfficientNet-B4 visual-only (probe) *BEST*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591056"/>
            <a:ext cx="164592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1636776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50"/>
                </a:solidFill>
                <a:latin typeface="Calibri"/>
              </a:rPr>
              <a:t>0.215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591056"/>
            <a:ext cx="128016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1636776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[0.088, 0.344]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591056"/>
            <a:ext cx="109728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1" y="1636776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0.303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1591056"/>
            <a:ext cx="109728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1636776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1591056"/>
            <a:ext cx="91440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1636776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881360" y="1591056"/>
            <a:ext cx="1005840" cy="356616"/>
          </a:xfrm>
          <a:prstGeom prst="rect">
            <a:avLst/>
          </a:prstGeom>
          <a:solidFill>
            <a:srgbClr val="D5F5E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08792" y="1636776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1947672"/>
            <a:ext cx="402336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1" y="1993391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Gated Fusion full (finetune)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1947672"/>
            <a:ext cx="164592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1993391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0.183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1947672"/>
            <a:ext cx="128016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1993391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[0.046, 0.306]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1947672"/>
            <a:ext cx="109728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1" y="1993391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0.255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1947672"/>
            <a:ext cx="109728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14232" y="1993391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0.096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1947672"/>
            <a:ext cx="91440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2952" y="1993391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81360" y="1947672"/>
            <a:ext cx="1005840" cy="356616"/>
          </a:xfrm>
          <a:prstGeom prst="rect">
            <a:avLst/>
          </a:prstGeom>
          <a:solidFill>
            <a:srgbClr val="FFF3E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08792" y="1993391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304288"/>
            <a:ext cx="40233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1" y="2350008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EfficientNet-B4 probe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2304288"/>
            <a:ext cx="164592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2350008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0.165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2304288"/>
            <a:ext cx="12801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53912" y="2350008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[0.038, 0.284]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79" y="2304288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25511" y="2350008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0.247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86800" y="2304288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14232" y="2350008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0.052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2304288"/>
            <a:ext cx="91440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02952" y="2350008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81360" y="2304288"/>
            <a:ext cx="100584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08792" y="2350008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660904"/>
            <a:ext cx="40233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1751" y="2706624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Swin-T probe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2660904"/>
            <a:ext cx="164592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6552" y="2706624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2660904"/>
            <a:ext cx="12801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53912" y="2706624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[-0.014, 0.258]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79" y="2660904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25511" y="2706624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0.164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2660904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14232" y="2706624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0.028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75520" y="2660904"/>
            <a:ext cx="91440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02952" y="2706624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0.125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81360" y="2660904"/>
            <a:ext cx="100584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08792" y="2706624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017520"/>
            <a:ext cx="40233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1" y="3063240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ResNet-50 probe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3017520"/>
            <a:ext cx="164592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16552" y="3063240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0.088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26480" y="3017520"/>
            <a:ext cx="12801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53912" y="3063240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[-0.041, 0.211]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98079" y="3017520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25511" y="3063240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0.126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86800" y="3017520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14232" y="3063240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0.028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3017520"/>
            <a:ext cx="91440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02952" y="3063240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0.146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81360" y="3017520"/>
            <a:ext cx="100584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908792" y="3063240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3374136"/>
            <a:ext cx="40233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1751" y="3419856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CLIP-&gt;EfficientNet probe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89120" y="3374136"/>
            <a:ext cx="164592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16552" y="3419856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0.063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0" y="3374136"/>
            <a:ext cx="128016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53912" y="3419856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[-0.070, 0.196]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98079" y="3374136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25511" y="3419856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0.085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86800" y="3374136"/>
            <a:ext cx="109728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714232" y="3419856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0.076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20" y="3374136"/>
            <a:ext cx="91440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902952" y="3419856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0.251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881360" y="3374136"/>
            <a:ext cx="1005840" cy="356616"/>
          </a:xfrm>
          <a:prstGeom prst="rect">
            <a:avLst/>
          </a:prstGeom>
          <a:solidFill>
            <a:srgbClr val="ECF0F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908792" y="3419856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3730752"/>
            <a:ext cx="40233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1751" y="3776472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CLIP-&gt;EfficientNet finetune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89120" y="3730752"/>
            <a:ext cx="164592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16552" y="3776472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0.007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26480" y="3730752"/>
            <a:ext cx="12801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53912" y="3776472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[-0.140, 0.149]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98079" y="3730752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25511" y="3776472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0.017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686800" y="3730752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14232" y="3776472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0.083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875520" y="3730752"/>
            <a:ext cx="91440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02952" y="3776472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0.259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881360" y="3730752"/>
            <a:ext cx="100584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908792" y="3776472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" y="4087368"/>
            <a:ext cx="40233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1751" y="4133088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Gated Fusion full (probe)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89120" y="4087368"/>
            <a:ext cx="164592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416552" y="4133088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0.024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26480" y="4087368"/>
            <a:ext cx="12801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153912" y="4133088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[-0.112, 0.155]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498079" y="4087368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525511" y="4133088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0.037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86800" y="4087368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714232" y="4133088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0.016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875520" y="4087368"/>
            <a:ext cx="91440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902952" y="4133088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0.100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881360" y="4087368"/>
            <a:ext cx="100584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08792" y="4133088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4443984"/>
            <a:ext cx="40233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01751" y="4489704"/>
            <a:ext cx="3968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Structural-only (probe)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89120" y="4443984"/>
            <a:ext cx="164592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416552" y="4489704"/>
            <a:ext cx="15910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0.002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26480" y="4443984"/>
            <a:ext cx="128016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53912" y="4489704"/>
            <a:ext cx="122529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[-0.142, 0.147]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498079" y="4443984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25511" y="4489704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0.003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686800" y="4443984"/>
            <a:ext cx="109728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714232" y="4489704"/>
            <a:ext cx="1042415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0.019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75520" y="4443984"/>
            <a:ext cx="91440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902952" y="4489704"/>
            <a:ext cx="85953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0.114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881360" y="4443984"/>
            <a:ext cx="1005840" cy="356616"/>
          </a:xfrm>
          <a:prstGeom prst="rect">
            <a:avLst/>
          </a:prstGeom>
          <a:solidFill>
            <a:srgbClr val="FFEBE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908792" y="4489704"/>
            <a:ext cx="9509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432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  <a:latin typeface="Calibri"/>
              </a:rPr>
              <a:t>* Significant = bootstrap 95% CI excludes zero  |  Green = best  |  Red = collapse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Visualisation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Model comparison with 95% confidence intervals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fig3_resul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Analysis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Answers to our three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840480" cy="5029200"/>
          </a:xfrm>
          <a:prstGeom prst="rect">
            <a:avLst/>
          </a:prstGeom>
          <a:solidFill>
            <a:srgbClr val="ECF0F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8404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1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RQ1 — ImageNet Visual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29260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871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EfficientNet-B4 visual-only achieves tau = 0.215 (sig.)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2724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ImageNet features capture semantic UX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673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Frozen probe &gt;= fine-tuned on 686 samples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234440"/>
            <a:ext cx="3840480" cy="5029200"/>
          </a:xfrm>
          <a:prstGeom prst="rect">
            <a:avLst/>
          </a:prstGeom>
          <a:solidFill>
            <a:srgbClr val="ECF0F1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34440"/>
            <a:ext cx="38404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61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RQ2 — CLIP Pretraining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920240"/>
            <a:ext cx="29260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1938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REFUTED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871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CLIP pseudo-labels: tau = 0.089 vs UICrit (too weak)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12724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Pretraining tau: 0.007 to 0.063 (all not significant)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673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RICO distribution too different from UICrit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234440"/>
            <a:ext cx="3840480" cy="5029200"/>
          </a:xfrm>
          <a:prstGeom prst="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234440"/>
            <a:ext cx="38404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261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RQ3 — Structural Fusion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920240"/>
            <a:ext cx="292608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9385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REFUTED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4871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Struct-only: tau = 0.002 (random)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12724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Gated Fusion (probe) COLLAPSES to tau = 0.024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7673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• Gating overfits on 686 samples (990K params)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9B5E0"/>
                </a:solidFill>
                <a:latin typeface="Calibri"/>
              </a:rPr>
              <a:t>Gradio web application for UX quality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7315200" cy="5029200"/>
          </a:xfrm>
          <a:prstGeom prst="rect">
            <a:avLst/>
          </a:prstGeom>
          <a:solidFill>
            <a:srgbClr val="ECF0F1"/>
          </a:solidFill>
          <a:ln w="19050">
            <a:solidFill>
              <a:srgbClr val="1A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F7A"/>
                </a:solidFill>
                <a:latin typeface="Calibri"/>
              </a:rPr>
              <a:t>Gradio Demo — http://127.0.0.1:7860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python scripts/app.py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6858000" cy="566928"/>
          </a:xfrm>
          <a:prstGeom prst="rect">
            <a:avLst/>
          </a:prstGeom>
          <a:solidFill>
            <a:srgbClr val="21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59152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  Upload any mobile screenshot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0087"/>
            <a:ext cx="6858000" cy="566928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  Quality Score: 0-100% with tier (Poor/Fair/Good/Excellent)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6858000" cy="566928"/>
          </a:xfrm>
          <a:prstGeom prst="rect">
            <a:avLst/>
          </a:prstGeom>
          <a:solidFill>
            <a:srgbClr val="21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75887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  Multi-scale Attention Map (head weights + activation energy)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6858000" cy="566928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  19 Structural Feature breakdown bar chart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65192"/>
            <a:ext cx="6858000" cy="566928"/>
          </a:xfrm>
          <a:prstGeom prst="rect">
            <a:avLst/>
          </a:prstGeom>
          <a:solidFill>
            <a:srgbClr val="218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92624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  Real-time inference on GPU (&lt; 1 second)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1234440"/>
            <a:ext cx="4114800" cy="2011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B5E0"/>
                </a:solidFill>
                <a:latin typeface="Calibri"/>
              </a:rPr>
              <a:t>Best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664208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ECF0F1"/>
                </a:solidFill>
                <a:latin typeface="Calibri"/>
              </a:rPr>
              <a:t>checkpoints/baselines/
efficientnet_b4/best.pt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87168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tau = 0.165 (standalone)
tau = 0.215 (visual-only ablation)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429000"/>
            <a:ext cx="4114800" cy="2834640"/>
          </a:xfrm>
          <a:prstGeom prst="rect">
            <a:avLst/>
          </a:prstGeom>
          <a:solidFill>
            <a:srgbClr val="ECF0F1"/>
          </a:solidFill>
          <a:ln>
            <a:solidFill>
              <a:srgbClr val="39B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F7A"/>
                </a:solidFill>
                <a:latin typeface="Calibri"/>
              </a:rPr>
              <a:t>Attention Map 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31920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  <a:latin typeface="Calibri"/>
              </a:rPr>
              <a:t>Multi-scale CAM (3 layers):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352544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50% head-weight CAM (semantic)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7731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30% activation energy features[-2]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193792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20% activation energy features[5]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614416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(14x14, finer spatial detail)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CF0F1"/>
                </a:solidFill>
                <a:latin typeface="Calibri"/>
              </a:rPr>
              <a:t>Deep Learning-Based UX Quality Prediction | KMUTT | IEEE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510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CF0F1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7132320" cy="51206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7A"/>
                </a:solidFill>
                <a:latin typeface="Calibri"/>
              </a:rPr>
              <a:t>Key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2860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  <a:latin typeface="Calibri"/>
              </a:rPr>
              <a:t>ImageNet EfficientNet-B4 achieves tau = 0.215 (sig.)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Best model — rich visual semantics sufficient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CLIP pretraining consistently HURTS (tau 0.007-0.063)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Pseudo-label quality too low (tau = 0.089 vs UICrit)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04487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0392B"/>
                </a:solidFill>
                <a:latin typeface="Calibri"/>
              </a:rPr>
              <a:t>Gated Fusion COLLAPSES (tau = 0.024, probe)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990K params overfit on 686 samples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83479"/>
            <a:ext cx="228600" cy="228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5604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67E22"/>
                </a:solidFill>
                <a:latin typeface="Calibri"/>
              </a:rPr>
              <a:t>Structural features alone: tau = 0.002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76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  UX quality is semantic, not measurable by pixels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234440"/>
            <a:ext cx="4206240" cy="512064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12801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1874519"/>
            <a:ext cx="3840480" cy="7132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90195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Larger annotated datasets
(active learning / crowdsourcing)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697479"/>
            <a:ext cx="3840480" cy="7132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72491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LLM-based quality prediction
(GPT-4V, Gemini Vision)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520439"/>
            <a:ext cx="3840480" cy="7132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54787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View hierarchy structural features
(element-level, not pixel-level)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4343400"/>
            <a:ext cx="3840480" cy="7132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37083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Pairwise ranking loss aligned
with Kendall tau objective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5166360"/>
            <a:ext cx="3840480" cy="713232"/>
          </a:xfrm>
          <a:prstGeom prst="rect">
            <a:avLst/>
          </a:prstGeom>
          <a:solidFill>
            <a:srgbClr val="1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5193792"/>
            <a:ext cx="3703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Cross-app generalization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87168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9B5E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CF0F1"/>
                </a:solidFill>
                <a:latin typeface="Calibri"/>
              </a:rPr>
              <a:t>Deep Learning-Based UX Quality Prediction from Mobile Screenshots Using Visual and Structural Cues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9B5E0"/>
                </a:solidFill>
                <a:latin typeface="Calibri"/>
              </a:rPr>
              <a:t>IEEE Access  |  KMUTT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  <a:latin typeface="Calibri"/>
              </a:rPr>
              <a:t>• Best model: EfficientNet-B4 visual-only  tau = 0.215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2362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  <a:latin typeface="Calibri"/>
              </a:rPr>
              <a:t>• Dataset: UICrit 983 UIs + RICO 66K screens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528816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CF0F1"/>
                </a:solidFill>
                <a:latin typeface="Calibri"/>
              </a:rPr>
              <a:t>• Code &amp; models: github.com/BankDesu/...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